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68" r:id="rId2"/>
    <p:sldId id="269" r:id="rId3"/>
    <p:sldId id="270" r:id="rId4"/>
    <p:sldId id="267" r:id="rId5"/>
    <p:sldId id="272" r:id="rId6"/>
    <p:sldId id="273" r:id="rId7"/>
    <p:sldId id="275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76" r:id="rId18"/>
    <p:sldId id="277" r:id="rId19"/>
    <p:sldId id="278" r:id="rId20"/>
    <p:sldId id="274" r:id="rId21"/>
    <p:sldId id="280" r:id="rId22"/>
    <p:sldId id="284" r:id="rId23"/>
    <p:sldId id="286" r:id="rId24"/>
    <p:sldId id="27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60"/>
  </p:normalViewPr>
  <p:slideViewPr>
    <p:cSldViewPr snapToGrid="0">
      <p:cViewPr>
        <p:scale>
          <a:sx n="66" d="100"/>
          <a:sy n="66" d="100"/>
        </p:scale>
        <p:origin x="123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7EE7271F-C4EA-B36F-1D33-21E8B43F5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8EDD82D9-C0A6-3743-0170-71B4E4F49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177DA0B6-AC58-C812-BE61-653314FF4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9829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F71E3937-49D2-3705-59D5-ADD3445A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BD9D6588-2C2F-62D9-1261-5BCE614E2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022BE67C-CFDB-4845-C9BD-42060F729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240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7EC49EAB-D887-75F2-92EC-4CAA2C42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1E2ABC63-DDC4-5863-9FB1-9DF9C3C14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FCEA3881-AC34-FADD-EB47-E79129162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8529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85886185-AC0D-409C-3ECB-E1536C9A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5CC8CAA3-2D7B-F621-D5E3-9CD0CB7F4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4AB4C97D-B2A0-EF94-771C-16C2B5DBB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5415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A22BD634-0C1C-76C1-9702-525DBC5D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>
            <a:extLst>
              <a:ext uri="{FF2B5EF4-FFF2-40B4-BE49-F238E27FC236}">
                <a16:creationId xmlns:a16="http://schemas.microsoft.com/office/drawing/2014/main" id="{77151BC1-7B8D-DA41-E75D-F7E2D700F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>
            <a:extLst>
              <a:ext uri="{FF2B5EF4-FFF2-40B4-BE49-F238E27FC236}">
                <a16:creationId xmlns:a16="http://schemas.microsoft.com/office/drawing/2014/main" id="{A18C63D3-BF6E-8759-3B93-E98D19826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0901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D2908588-F9D7-F24C-88FA-0EECE7A36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2FF35347-D79D-BEBD-C632-E9C03A63D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2C38E6CA-FC7A-DA40-5B96-3E43845CE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790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24D7CF02-997C-9A68-262E-676ED355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E0F524AE-3BDA-61FA-D774-0733A9EAC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CDCF1081-69F6-6DCB-2932-12DCF6CDD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8107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92D0FB28-4791-EE6D-99EA-69CDAB94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9E44A1E1-134D-CE6E-1485-AE50979C1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F8276CDB-B0A8-C190-C144-0B7CAD003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4129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EA7295E5-C9A1-9814-FAFF-05A1FB60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AAD5CA58-5270-2E9D-0007-14EBC73F1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3A5C8656-40BA-EF0F-15E4-5891CB1D0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0565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1A83890B-E21E-3F36-ACA8-027CEF3C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B6649C7A-7997-D52B-AA20-0700B414B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8206651C-DA4B-840B-6912-E35BF4A82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3132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7594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1A83890B-E21E-3F36-ACA8-027CEF3C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B6649C7A-7997-D52B-AA20-0700B414B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8206651C-DA4B-840B-6912-E35BF4A82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0279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mohankrishnathalla/diabetes-health-indicators-dataset/dat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62175263-1C74-40DF-E5D0-AEBF2C54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>
            <a:extLst>
              <a:ext uri="{FF2B5EF4-FFF2-40B4-BE49-F238E27FC236}">
                <a16:creationId xmlns:a16="http://schemas.microsoft.com/office/drawing/2014/main" id="{6FEFDA0A-30D1-1A33-D99F-A8EF0A9F5AF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Diabetes Prediction Using Machine Learning</a:t>
            </a:r>
            <a:endParaRPr dirty="0"/>
          </a:p>
        </p:txBody>
      </p:sp>
      <p:sp>
        <p:nvSpPr>
          <p:cNvPr id="161" name="Google Shape;161;p6">
            <a:extLst>
              <a:ext uri="{FF2B5EF4-FFF2-40B4-BE49-F238E27FC236}">
                <a16:creationId xmlns:a16="http://schemas.microsoft.com/office/drawing/2014/main" id="{3EBD3F60-E747-F26A-09DF-DCA28BA016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3999" y="3602037"/>
            <a:ext cx="9478297" cy="238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By: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Mostafa Ayman</a:t>
            </a:r>
            <a:endParaRPr lang="ar-EG" b="1" dirty="0"/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Mohamed Hamed 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Mohamed Adel 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Yasser Ahmed</a:t>
            </a:r>
            <a:br>
              <a:rPr lang="en-US" b="1" dirty="0"/>
            </a:br>
            <a:r>
              <a:rPr lang="en-US" b="1" dirty="0"/>
              <a:t>Mohamed Ali</a:t>
            </a:r>
            <a:endParaRPr b="1" dirty="0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7334F272-972E-52CF-0EB5-0789E264D4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163" name="Google Shape;163;p6">
            <a:extLst>
              <a:ext uri="{FF2B5EF4-FFF2-40B4-BE49-F238E27FC236}">
                <a16:creationId xmlns:a16="http://schemas.microsoft.com/office/drawing/2014/main" id="{21D1A274-CBDE-B8C0-B2FD-B8820AB290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>
            <a:extLst>
              <a:ext uri="{FF2B5EF4-FFF2-40B4-BE49-F238E27FC236}">
                <a16:creationId xmlns:a16="http://schemas.microsoft.com/office/drawing/2014/main" id="{BFDC5CCD-1BC3-5759-51E7-17E3E95C0D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65" name="Google Shape;165;p6" title="download.png">
            <a:extLst>
              <a:ext uri="{FF2B5EF4-FFF2-40B4-BE49-F238E27FC236}">
                <a16:creationId xmlns:a16="http://schemas.microsoft.com/office/drawing/2014/main" id="{D639DEDD-FD56-7BE9-A99E-0C6BB8241A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828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84C6A1B8-14AE-CFEA-4D9D-84D31400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>
            <a:extLst>
              <a:ext uri="{FF2B5EF4-FFF2-40B4-BE49-F238E27FC236}">
                <a16:creationId xmlns:a16="http://schemas.microsoft.com/office/drawing/2014/main" id="{3A72F448-870B-7633-9159-4B5AE06EFF7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1160" y="1310640"/>
            <a:ext cx="1933543" cy="465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2000" b="1" u="sng" dirty="0"/>
              <a:t>What is Diabetes?</a:t>
            </a:r>
            <a:endParaRPr sz="2000" dirty="0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94C969FD-5615-15D5-87CE-EE639DB9EDE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163" name="Google Shape;163;p6">
            <a:extLst>
              <a:ext uri="{FF2B5EF4-FFF2-40B4-BE49-F238E27FC236}">
                <a16:creationId xmlns:a16="http://schemas.microsoft.com/office/drawing/2014/main" id="{098A7F79-5D29-00FF-1A26-A852755399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>
            <a:extLst>
              <a:ext uri="{FF2B5EF4-FFF2-40B4-BE49-F238E27FC236}">
                <a16:creationId xmlns:a16="http://schemas.microsoft.com/office/drawing/2014/main" id="{7F0A1D92-51D7-0ED3-33B3-9AEDC87222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65" name="Google Shape;165;p6" title="download.png">
            <a:extLst>
              <a:ext uri="{FF2B5EF4-FFF2-40B4-BE49-F238E27FC236}">
                <a16:creationId xmlns:a16="http://schemas.microsoft.com/office/drawing/2014/main" id="{2580E473-362E-83D5-43DC-99C21DD0D4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Rectangle 174"/>
          <p:cNvSpPr/>
          <p:nvPr/>
        </p:nvSpPr>
        <p:spPr>
          <a:xfrm>
            <a:off x="589280" y="1993404"/>
            <a:ext cx="108040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Diabetes is one of the most common chronic diseases worldwide.</a:t>
            </a:r>
          </a:p>
          <a:p>
            <a:r>
              <a:rPr lang="en-US" sz="1800" dirty="0"/>
              <a:t>It occurs when the body cannot regulate blood glucose properly because insulin production is insufficient or insulin cannot be used effectively.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91160" y="2997051"/>
            <a:ext cx="209804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Types</a:t>
            </a:r>
          </a:p>
        </p:txBody>
      </p:sp>
      <p:sp>
        <p:nvSpPr>
          <p:cNvPr id="178" name="Rectangle 33"/>
          <p:cNvSpPr>
            <a:spLocks noChangeArrowheads="1"/>
          </p:cNvSpPr>
          <p:nvPr/>
        </p:nvSpPr>
        <p:spPr bwMode="auto">
          <a:xfrm>
            <a:off x="589280" y="3374951"/>
            <a:ext cx="520192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1 Diabetes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2 Diabetes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Prediabetes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1159" y="4356388"/>
            <a:ext cx="1933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Why It Matters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89280" y="4814605"/>
            <a:ext cx="74379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Over 500 million people are affected worldwide.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Early diagnosis can prevent severe complications.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Machine Learning can assist physicians by identifying high-risk patients before complications occur. </a:t>
            </a:r>
          </a:p>
        </p:txBody>
      </p:sp>
    </p:spTree>
    <p:extLst>
      <p:ext uri="{BB962C8B-B14F-4D97-AF65-F5344CB8AC3E}">
        <p14:creationId xmlns:p14="http://schemas.microsoft.com/office/powerpoint/2010/main" val="249064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E6DF6B39-2825-2C4B-0F7A-8D1AEBBE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>
            <a:extLst>
              <a:ext uri="{FF2B5EF4-FFF2-40B4-BE49-F238E27FC236}">
                <a16:creationId xmlns:a16="http://schemas.microsoft.com/office/drawing/2014/main" id="{4BD6D70C-7EF4-1309-0A78-34780137CE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83061" y="1158544"/>
            <a:ext cx="37937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2800" b="1" u="sng" dirty="0"/>
              <a:t>Problem Statement</a:t>
            </a:r>
            <a:endParaRPr sz="2800" dirty="0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2DD8BFB8-4F0A-0C02-8F66-FB1D6D7DCF9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163" name="Google Shape;163;p6">
            <a:extLst>
              <a:ext uri="{FF2B5EF4-FFF2-40B4-BE49-F238E27FC236}">
                <a16:creationId xmlns:a16="http://schemas.microsoft.com/office/drawing/2014/main" id="{70907032-D2E6-1436-0D93-7F7E87D891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>
            <a:extLst>
              <a:ext uri="{FF2B5EF4-FFF2-40B4-BE49-F238E27FC236}">
                <a16:creationId xmlns:a16="http://schemas.microsoft.com/office/drawing/2014/main" id="{2BF837D5-5E4B-6317-7BA0-4B0BB07D92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65" name="Google Shape;165;p6" title="download.png">
            <a:extLst>
              <a:ext uri="{FF2B5EF4-FFF2-40B4-BE49-F238E27FC236}">
                <a16:creationId xmlns:a16="http://schemas.microsoft.com/office/drawing/2014/main" id="{65D331DE-1263-A0DF-36EB-0555A86836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4088E5-65E5-CC1B-BBEB-9307698ED8B4}"/>
              </a:ext>
            </a:extLst>
          </p:cNvPr>
          <p:cNvSpPr txBox="1"/>
          <p:nvPr/>
        </p:nvSpPr>
        <p:spPr>
          <a:xfrm>
            <a:off x="1224872" y="1523669"/>
            <a:ext cx="4713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Problem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0394380-7C54-C156-CCC0-B3CAE09496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4636" y="1923779"/>
            <a:ext cx="974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/>
              <a:t>Traditional diabetes diagnosis depends mainly on laboratory tests such as: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501" y="2216460"/>
            <a:ext cx="59057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HbA1c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Fasting Glucose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Postprandial Glucose 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636" y="3427173"/>
            <a:ext cx="16802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These tests: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501" y="3853959"/>
            <a:ext cx="6096000" cy="141577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require blood samples,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require hospital visits,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are not always available,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increase healthcare costs. </a:t>
            </a:r>
          </a:p>
        </p:txBody>
      </p:sp>
    </p:spTree>
    <p:extLst>
      <p:ext uri="{BB962C8B-B14F-4D97-AF65-F5344CB8AC3E}">
        <p14:creationId xmlns:p14="http://schemas.microsoft.com/office/powerpoint/2010/main" val="121667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26" name="Google Shape;226;p1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0;p7">
            <a:extLst>
              <a:ext uri="{FF2B5EF4-FFF2-40B4-BE49-F238E27FC236}">
                <a16:creationId xmlns:a16="http://schemas.microsoft.com/office/drawing/2014/main" id="{5C57156C-DC0D-0DD7-DBD7-E6E34C725266}"/>
              </a:ext>
            </a:extLst>
          </p:cNvPr>
          <p:cNvSpPr txBox="1">
            <a:spLocks/>
          </p:cNvSpPr>
          <p:nvPr/>
        </p:nvSpPr>
        <p:spPr>
          <a:xfrm>
            <a:off x="838200" y="1693668"/>
            <a:ext cx="7585587" cy="41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Primary Objectives</a:t>
            </a:r>
          </a:p>
          <a:p>
            <a:r>
              <a:rPr lang="en-US" sz="2000" dirty="0"/>
              <a:t>Build a reliable diabetes prediction model. </a:t>
            </a:r>
          </a:p>
          <a:p>
            <a:r>
              <a:rPr lang="en-US" sz="2000" dirty="0"/>
              <a:t>Compare multiple Machine Learning algorithms. </a:t>
            </a:r>
          </a:p>
          <a:p>
            <a:r>
              <a:rPr lang="en-US" sz="2000" dirty="0"/>
              <a:t>Select the best-performing model. </a:t>
            </a:r>
          </a:p>
          <a:p>
            <a:r>
              <a:rPr lang="en-US" sz="2000" dirty="0"/>
              <a:t>Analyze feature importance. </a:t>
            </a:r>
          </a:p>
          <a:p>
            <a:r>
              <a:rPr lang="en-US" sz="2000" dirty="0"/>
              <a:t>Deploy the model as a web application. </a:t>
            </a:r>
          </a:p>
          <a:p>
            <a:r>
              <a:rPr lang="en-US" sz="2000" b="1" dirty="0"/>
              <a:t>Secondary Objectives</a:t>
            </a:r>
          </a:p>
          <a:p>
            <a:r>
              <a:rPr lang="en-US" sz="2000" dirty="0"/>
              <a:t>Investigate whether lifestyle variables contribute meaningfully. </a:t>
            </a:r>
          </a:p>
          <a:p>
            <a:r>
              <a:rPr lang="en-US" sz="2000" dirty="0"/>
              <a:t>Study the effect of removing highly dominant clinical variables like HbA1c.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7FD71-4F87-20C4-9E06-694D3F11345A}"/>
              </a:ext>
            </a:extLst>
          </p:cNvPr>
          <p:cNvSpPr txBox="1"/>
          <p:nvPr/>
        </p:nvSpPr>
        <p:spPr>
          <a:xfrm>
            <a:off x="147485" y="1173722"/>
            <a:ext cx="3113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u="sng" dirty="0"/>
              <a:t>Project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EC4BE0F-D668-FFC9-D2F2-1E1C0FA3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D59BB863-0D6F-4674-B645-41442D1655A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A5B5261D-55C7-12F3-D342-828DA214FCD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FC2683CF-6901-E83D-BD6F-B99CEEEE46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26" name="Google Shape;226;p12" title="download.png">
            <a:extLst>
              <a:ext uri="{FF2B5EF4-FFF2-40B4-BE49-F238E27FC236}">
                <a16:creationId xmlns:a16="http://schemas.microsoft.com/office/drawing/2014/main" id="{0B706A49-79FE-D5A8-2805-12216F4F2F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0;p7">
            <a:extLst>
              <a:ext uri="{FF2B5EF4-FFF2-40B4-BE49-F238E27FC236}">
                <a16:creationId xmlns:a16="http://schemas.microsoft.com/office/drawing/2014/main" id="{EE8799E8-B31F-6A54-B6D8-CAC738158916}"/>
              </a:ext>
            </a:extLst>
          </p:cNvPr>
          <p:cNvSpPr txBox="1">
            <a:spLocks/>
          </p:cNvSpPr>
          <p:nvPr/>
        </p:nvSpPr>
        <p:spPr>
          <a:xfrm>
            <a:off x="496693" y="1499116"/>
            <a:ext cx="7585587" cy="473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300" b="1" dirty="0"/>
              <a:t>Dataset Overview</a:t>
            </a:r>
          </a:p>
          <a:p>
            <a:endParaRPr lang="en-US" sz="2900" b="1" dirty="0"/>
          </a:p>
          <a:p>
            <a:r>
              <a:rPr lang="en-US" sz="2900" dirty="0"/>
              <a:t>Dataset:</a:t>
            </a:r>
          </a:p>
          <a:p>
            <a:r>
              <a:rPr lang="en-US" sz="2900" dirty="0"/>
              <a:t>Diabetes Health Indicators Dataset</a:t>
            </a:r>
          </a:p>
          <a:p>
            <a:r>
              <a:rPr lang="en-US" sz="2900" dirty="0"/>
              <a:t>Source:</a:t>
            </a:r>
          </a:p>
          <a:p>
            <a:r>
              <a:rPr lang="en-US" sz="2900" dirty="0"/>
              <a:t>Kaggle</a:t>
            </a:r>
            <a:r>
              <a:rPr lang="ar-EG" sz="2900" dirty="0"/>
              <a:t>):</a:t>
            </a:r>
            <a:r>
              <a:rPr lang="en-US" sz="3200" dirty="0">
                <a:hlinkClick r:id="rId4"/>
              </a:rPr>
              <a:t>Diabetes Health Indicators Dataset</a:t>
            </a:r>
            <a:r>
              <a:rPr lang="ar-EG" sz="3200" dirty="0"/>
              <a:t>(</a:t>
            </a:r>
            <a:endParaRPr lang="en-US" sz="2900" dirty="0"/>
          </a:p>
          <a:p>
            <a:r>
              <a:rPr lang="en-US" sz="2900" dirty="0"/>
              <a:t>Size:</a:t>
            </a:r>
            <a:r>
              <a:rPr lang="ar-EG" sz="2900" dirty="0"/>
              <a:t>) </a:t>
            </a:r>
            <a:r>
              <a:rPr lang="en-US" sz="2900" dirty="0"/>
              <a:t>15MB)</a:t>
            </a:r>
          </a:p>
          <a:p>
            <a:r>
              <a:rPr lang="en-US" sz="2900" dirty="0"/>
              <a:t>Approximately 100,000 patient records</a:t>
            </a:r>
          </a:p>
          <a:p>
            <a:r>
              <a:rPr lang="en-US" sz="2000" dirty="0"/>
              <a:t>.</a:t>
            </a:r>
          </a:p>
          <a:p>
            <a:r>
              <a:rPr lang="en-US" sz="3300" b="1" dirty="0"/>
              <a:t>Information Included</a:t>
            </a:r>
          </a:p>
          <a:p>
            <a:endParaRPr lang="en-US" sz="2700" b="1" dirty="0"/>
          </a:p>
          <a:p>
            <a:r>
              <a:rPr lang="en-US" sz="2900" dirty="0"/>
              <a:t>Demographic information </a:t>
            </a:r>
          </a:p>
          <a:p>
            <a:r>
              <a:rPr lang="en-US" sz="2900" dirty="0"/>
              <a:t>Lifestyle habits </a:t>
            </a:r>
          </a:p>
          <a:p>
            <a:r>
              <a:rPr lang="en-US" sz="2900" dirty="0"/>
              <a:t>Medical history </a:t>
            </a:r>
          </a:p>
          <a:p>
            <a:r>
              <a:rPr lang="en-US" sz="2900" dirty="0"/>
              <a:t>Blood pressure </a:t>
            </a:r>
          </a:p>
          <a:p>
            <a:r>
              <a:rPr lang="en-US" sz="2900" dirty="0"/>
              <a:t>Cholesterol </a:t>
            </a:r>
          </a:p>
          <a:p>
            <a:r>
              <a:rPr lang="en-US" sz="2900" dirty="0"/>
              <a:t>Glucose measurements </a:t>
            </a:r>
          </a:p>
          <a:p>
            <a:r>
              <a:rPr lang="en-US" sz="2900" dirty="0"/>
              <a:t>HbA1c </a:t>
            </a:r>
          </a:p>
          <a:p>
            <a:r>
              <a:rPr lang="en-US" sz="2900" dirty="0"/>
              <a:t>BMI </a:t>
            </a:r>
          </a:p>
          <a:p>
            <a:r>
              <a:rPr lang="en-US" sz="2900" dirty="0"/>
              <a:t>Heart rate </a:t>
            </a:r>
          </a:p>
          <a:p>
            <a:r>
              <a:rPr lang="en-US" sz="2900" dirty="0"/>
              <a:t>Target diagnosis </a:t>
            </a:r>
          </a:p>
          <a:p>
            <a:endParaRPr lang="en-US" sz="2000" dirty="0"/>
          </a:p>
          <a:p>
            <a:r>
              <a:rPr lang="en-US" sz="3300" b="1" dirty="0"/>
              <a:t>Target Variable</a:t>
            </a:r>
          </a:p>
          <a:p>
            <a:endParaRPr lang="en-US" sz="3300" b="1" dirty="0"/>
          </a:p>
          <a:p>
            <a:r>
              <a:rPr lang="en-US" sz="2900" dirty="0" err="1"/>
              <a:t>diagnosed_diabetes</a:t>
            </a:r>
            <a:endParaRPr lang="en-US" sz="2900" dirty="0"/>
          </a:p>
          <a:p>
            <a:r>
              <a:rPr lang="en-US" sz="2900" dirty="0"/>
              <a:t>Binary Classification</a:t>
            </a:r>
          </a:p>
          <a:p>
            <a:r>
              <a:rPr lang="en-US" sz="2900" dirty="0"/>
              <a:t>0 → No Diabetes </a:t>
            </a:r>
          </a:p>
          <a:p>
            <a:r>
              <a:rPr lang="en-US" sz="2900" dirty="0"/>
              <a:t>1 → Diabetes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11289-F31F-43A5-83EF-49E7FB671AD2}"/>
              </a:ext>
            </a:extLst>
          </p:cNvPr>
          <p:cNvSpPr txBox="1"/>
          <p:nvPr/>
        </p:nvSpPr>
        <p:spPr>
          <a:xfrm>
            <a:off x="-96520" y="1129784"/>
            <a:ext cx="186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u="sng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3769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417FB8D-156E-D97D-3E42-8C57637E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1793164C-EAC1-C017-7A11-21461396768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57071BE7-E44A-71AC-9E38-D0E1E0FAC9D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747C4EA4-57BF-EFD7-990F-EB9AE6D00B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26" name="Google Shape;226;p12" title="download.png">
            <a:extLst>
              <a:ext uri="{FF2B5EF4-FFF2-40B4-BE49-F238E27FC236}">
                <a16:creationId xmlns:a16="http://schemas.microsoft.com/office/drawing/2014/main" id="{A3544A78-E84A-EE9E-23EB-11D352A889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0;p7">
            <a:extLst>
              <a:ext uri="{FF2B5EF4-FFF2-40B4-BE49-F238E27FC236}">
                <a16:creationId xmlns:a16="http://schemas.microsoft.com/office/drawing/2014/main" id="{52168F82-2EBC-9E64-A432-314A00D997F1}"/>
              </a:ext>
            </a:extLst>
          </p:cNvPr>
          <p:cNvSpPr txBox="1">
            <a:spLocks/>
          </p:cNvSpPr>
          <p:nvPr/>
        </p:nvSpPr>
        <p:spPr>
          <a:xfrm>
            <a:off x="596118" y="1543054"/>
            <a:ext cx="6568440" cy="4481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b="1" dirty="0"/>
              <a:t>Feature Categories</a:t>
            </a:r>
          </a:p>
          <a:p>
            <a:r>
              <a:rPr lang="en-US" sz="1800" b="1" dirty="0"/>
              <a:t>Demographic</a:t>
            </a:r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Gender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Ethnicity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</a:p>
          <a:p>
            <a:r>
              <a:rPr lang="en-US" sz="1800" b="1" dirty="0"/>
              <a:t>Lifestyle</a:t>
            </a:r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Diet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Physical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Sleep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Smoking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Screen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b="1" dirty="0"/>
              <a:t>Medical History</a:t>
            </a:r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Family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Hypertension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Cardiovascular 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</a:p>
          <a:p>
            <a:r>
              <a:rPr lang="en-US" sz="1800" b="1" dirty="0"/>
              <a:t>Clinical Measurements</a:t>
            </a:r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BMI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Blood Pressure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Cholesterol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HbA1c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Glucose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47C40-70D0-7FDF-AE5D-9F842AB9EF35}"/>
              </a:ext>
            </a:extLst>
          </p:cNvPr>
          <p:cNvSpPr txBox="1"/>
          <p:nvPr/>
        </p:nvSpPr>
        <p:spPr>
          <a:xfrm>
            <a:off x="0" y="1026918"/>
            <a:ext cx="283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u="sng" dirty="0"/>
              <a:t>Features &amp; Tools</a:t>
            </a:r>
          </a:p>
        </p:txBody>
      </p:sp>
    </p:spTree>
    <p:extLst>
      <p:ext uri="{BB962C8B-B14F-4D97-AF65-F5344CB8AC3E}">
        <p14:creationId xmlns:p14="http://schemas.microsoft.com/office/powerpoint/2010/main" val="65276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EFD5829E-6F28-11CC-7929-C9FA8702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40780" y="1261641"/>
            <a:ext cx="9560688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Tools Used</a:t>
            </a:r>
          </a:p>
          <a:p>
            <a:r>
              <a:rPr lang="en-US" sz="1600" b="1" dirty="0"/>
              <a:t>Programming Language</a:t>
            </a:r>
          </a:p>
          <a:p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</a:p>
          <a:p>
            <a:r>
              <a:rPr lang="en-US" dirty="0"/>
              <a:t>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NumPy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Matplotlib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Seaborn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/>
              <a:t>Machine Learning</a:t>
            </a:r>
          </a:p>
          <a:p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Scikit</a:t>
            </a:r>
            <a:r>
              <a:rPr lang="en-US" dirty="0"/>
              <a:t>-Learn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CatBoost</a:t>
            </a:r>
            <a:r>
              <a:rPr lang="en-US" dirty="0"/>
              <a:t> </a:t>
            </a:r>
          </a:p>
          <a:p>
            <a:r>
              <a:rPr lang="en-US" dirty="0"/>
              <a:t>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Streamlit</a:t>
            </a:r>
            <a:r>
              <a:rPr lang="en-US" dirty="0"/>
              <a:t> </a:t>
            </a:r>
          </a:p>
          <a:p>
            <a:r>
              <a:rPr lang="en-US" dirty="0"/>
              <a:t>Version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GitHub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327" y="6391564"/>
            <a:ext cx="1394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8/7/26</a:t>
            </a:r>
          </a:p>
        </p:txBody>
      </p:sp>
    </p:spTree>
    <p:extLst>
      <p:ext uri="{BB962C8B-B14F-4D97-AF65-F5344CB8AC3E}">
        <p14:creationId xmlns:p14="http://schemas.microsoft.com/office/powerpoint/2010/main" val="378399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F151-6590-AAA9-CA31-C3223701F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9669"/>
            <a:ext cx="9144000" cy="1190531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22ED7-710C-4090-42E3-BE1A512C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141" y="2998694"/>
            <a:ext cx="9941859" cy="325418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Before training the machine learning models, we explored the dataset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Understand the distribution of the data.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Detect class imbalance.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Identify outliers.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Analyze relationships between features.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D3F3A-3E02-6940-1CE3-DF980C31EC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84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DB19-8892-D0B8-C106-4C5F9F43D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376" y="1152852"/>
            <a:ext cx="5683624" cy="894696"/>
          </a:xfrm>
        </p:spPr>
        <p:txBody>
          <a:bodyPr>
            <a:normAutofit fontScale="90000"/>
          </a:bodyPr>
          <a:lstStyle/>
          <a:p>
            <a:r>
              <a:rPr lang="en-US" dirty="0"/>
              <a:t>Target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FF02F-9FB8-FC99-AD6A-4A07BEE2D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37833"/>
            <a:ext cx="8413377" cy="287318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The dataset contains </a:t>
            </a:r>
            <a:r>
              <a:rPr lang="en-US" b="1" dirty="0"/>
              <a:t>100,000 patient records</a:t>
            </a:r>
            <a:r>
              <a:rPr lang="en-US" dirty="0"/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Around </a:t>
            </a:r>
            <a:r>
              <a:rPr lang="en-US" b="1" dirty="0"/>
              <a:t>60%</a:t>
            </a:r>
            <a:r>
              <a:rPr lang="en-US" dirty="0"/>
              <a:t> of patients are diagnosed with diabetes.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Around </a:t>
            </a:r>
            <a:r>
              <a:rPr lang="en-US" b="1" dirty="0"/>
              <a:t>40%</a:t>
            </a:r>
            <a:r>
              <a:rPr lang="en-US" dirty="0"/>
              <a:t> are non-diabetic.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The class distribution is reasonably balanced, making it suitable for binary classification. 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ACA07-27FC-3146-2437-12819C222A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CD962-AAE4-B57E-CD41-FACBA170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775" y="1370883"/>
            <a:ext cx="4626511" cy="498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8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986AE-5C39-31FF-F11F-23F0A2738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" y="991487"/>
            <a:ext cx="4742329" cy="729737"/>
          </a:xfrm>
        </p:spPr>
        <p:txBody>
          <a:bodyPr>
            <a:normAutofit fontScale="90000"/>
          </a:bodyPr>
          <a:lstStyle/>
          <a:p>
            <a:r>
              <a:rPr lang="en-US" dirty="0"/>
              <a:t>Age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CDAAD-F791-B56A-5026-EB5F3CB1F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12" y="1815353"/>
            <a:ext cx="6418729" cy="4051161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Most patients are between </a:t>
            </a:r>
            <a:r>
              <a:rPr lang="en-US" b="1" dirty="0"/>
              <a:t>40 and 60 years old</a:t>
            </a:r>
            <a:r>
              <a:rPr lang="en-US" dirty="0"/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The distribution is approximately bell-shaped.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Fewer patients are observed at very young and very old ages.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Age is expected to be an important predictor of diabetes risk.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08682-9E5D-4A51-68C3-3926187EF6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AB40C8-8AE2-CB0F-3D8E-66ACFCBCE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95" y="806824"/>
            <a:ext cx="5733299" cy="539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9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939D6-F86A-B4BC-E64A-B39F62802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224" y="1122363"/>
            <a:ext cx="5060576" cy="746778"/>
          </a:xfrm>
        </p:spPr>
        <p:txBody>
          <a:bodyPr>
            <a:normAutofit fontScale="90000"/>
          </a:bodyPr>
          <a:lstStyle/>
          <a:p>
            <a:r>
              <a:rPr lang="en-US" dirty="0"/>
              <a:t>BMI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B29D1-42E7-CFD1-241F-ACB6C5C92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29" y="3070457"/>
            <a:ext cx="6490447" cy="255671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dirty="0"/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BMI follows an approximately normal distribution.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Most patients have BMI values between </a:t>
            </a:r>
            <a:r>
              <a:rPr lang="en-US" b="1" dirty="0"/>
              <a:t>22 and 30</a:t>
            </a:r>
            <a:r>
              <a:rPr lang="en-US" dirty="0"/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Higher BMI values may indicate increased diabetes risk.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Only a small number of extreme BMI values are observed.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EB5C2-AFEC-F3E3-8E09-5FACD0485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7F095-CC5A-F1A8-BC7A-52E931F09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701" y="1292907"/>
            <a:ext cx="5733299" cy="433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5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E535-46F7-2ED5-44CE-8F178D32A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9283" y="755369"/>
            <a:ext cx="8610600" cy="1006475"/>
          </a:xfrm>
        </p:spPr>
        <p:txBody>
          <a:bodyPr>
            <a:normAutofit fontScale="90000"/>
          </a:bodyPr>
          <a:lstStyle/>
          <a:p>
            <a:r>
              <a:rPr lang="en-US" dirty="0"/>
              <a:t>Fasting Glucose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2BD02-AA5B-2D3A-A4C0-3C83F04B4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61" y="1909482"/>
            <a:ext cx="5815596" cy="395343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Fasting glucose values are centered around normal clinical ranges.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The distribution is close to normal with a slight right skew.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Elevated glucose levels are strongly associated with diabetes.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Glucose is expected to be one of the most influential features.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A3CA-5E8B-178A-6FAA-84A20FEEC8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24131-B808-9B0C-4022-26512B0F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19066"/>
            <a:ext cx="5815596" cy="433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27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7147-A2AC-1A28-5806-C11E73416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97541" y="1045275"/>
            <a:ext cx="6436659" cy="814013"/>
          </a:xfrm>
        </p:spPr>
        <p:txBody>
          <a:bodyPr>
            <a:normAutofit fontScale="90000"/>
          </a:bodyPr>
          <a:lstStyle/>
          <a:p>
            <a:r>
              <a:rPr lang="en-US" dirty="0"/>
              <a:t>HbA1c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399A1-FA93-525F-B713-4845285F0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433918"/>
            <a:ext cx="6252884" cy="404910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HbA1c values show a near-normal distribution.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Most patients fall between </a:t>
            </a:r>
            <a:r>
              <a:rPr lang="en-US" b="1" dirty="0"/>
              <a:t>6 and 7</a:t>
            </a:r>
            <a:r>
              <a:rPr lang="en-US" dirty="0"/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Higher HbA1c values indicate poorer long-term blood glucose control.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HbA1c is one of the strongest indicators of diabetes.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0A0B4-1ABD-E882-B355-98EB201761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503AE4-E10A-CB37-2970-09AA261F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2281"/>
            <a:ext cx="5824740" cy="433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51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BE28-4355-A7AC-263E-1D9977CD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4118" y="1125958"/>
            <a:ext cx="6840071" cy="948484"/>
          </a:xfrm>
        </p:spPr>
        <p:txBody>
          <a:bodyPr/>
          <a:lstStyle/>
          <a:p>
            <a:r>
              <a:rPr lang="en-US" dirty="0"/>
              <a:t>Outlier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2632E-334E-6579-F255-63F068A7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52" y="2548684"/>
            <a:ext cx="11492753" cy="3183358"/>
          </a:xfrm>
        </p:spPr>
        <p:txBody>
          <a:bodyPr>
            <a:normAutofit/>
          </a:bodyPr>
          <a:lstStyle/>
          <a:p>
            <a:pPr marL="50800" indent="0" algn="l"/>
            <a:r>
              <a:rPr lang="en-US" b="1" dirty="0"/>
              <a:t>Key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Several numerical variables contain outliers.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Most outliers are observed in glucose, cholesterol, triglycerides, and insulin.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Outliers were retained because they may represent real clinical cases.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RobustScaler</a:t>
            </a:r>
            <a:r>
              <a:rPr lang="en-US" dirty="0"/>
              <a:t> was later applied to reduce the impact of extreme values.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91F36-DA5D-3A0B-AE2A-6A9171EC82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30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C83CB-3E79-95E6-965A-329E5D0B1D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41B4D-651D-13AE-2546-9D06C60A3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328" y="0"/>
            <a:ext cx="6168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71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644F27-24D9-E49E-22F7-3656FCE74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536" y="1358153"/>
            <a:ext cx="11066928" cy="4457700"/>
          </a:xfrm>
        </p:spPr>
        <p:txBody>
          <a:bodyPr anchor="ctr"/>
          <a:lstStyle/>
          <a:p>
            <a:r>
              <a:rPr lang="en-US" dirty="0"/>
              <a:t>The exploratory analysis helped us understand the data distribution, detect outliers, verify the class balance, and identify the most informative variables before training the machine learning models.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B76B0-8A93-35BE-6F5D-ACEFF6FE9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74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ACA287EE-8AD3-B201-E3B4-DB5F892E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>
            <a:extLst>
              <a:ext uri="{FF2B5EF4-FFF2-40B4-BE49-F238E27FC236}">
                <a16:creationId xmlns:a16="http://schemas.microsoft.com/office/drawing/2014/main" id="{7879F1F1-C137-EC60-9EB5-91BBDB046D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24872" y="1158544"/>
            <a:ext cx="33414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2800" b="1" u="sng" dirty="0"/>
              <a:t>Data Preprocessing</a:t>
            </a:r>
            <a:endParaRPr lang="en-US" sz="2800" dirty="0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6CC04F3F-B3E7-281F-D39E-5182F687E22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163" name="Google Shape;163;p6">
            <a:extLst>
              <a:ext uri="{FF2B5EF4-FFF2-40B4-BE49-F238E27FC236}">
                <a16:creationId xmlns:a16="http://schemas.microsoft.com/office/drawing/2014/main" id="{1C9D266A-9F16-CE03-3D09-190CB0C3C9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>
            <a:extLst>
              <a:ext uri="{FF2B5EF4-FFF2-40B4-BE49-F238E27FC236}">
                <a16:creationId xmlns:a16="http://schemas.microsoft.com/office/drawing/2014/main" id="{272D7432-CF6F-4C5A-3C04-6DB5D51877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  <p:pic>
        <p:nvPicPr>
          <p:cNvPr id="165" name="Google Shape;165;p6" title="download.png">
            <a:extLst>
              <a:ext uri="{FF2B5EF4-FFF2-40B4-BE49-F238E27FC236}">
                <a16:creationId xmlns:a16="http://schemas.microsoft.com/office/drawing/2014/main" id="{79B6CB3E-B4CC-CBEB-01A0-CA3BACB41C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FEDC6F-F415-0C04-D850-A817275F1900}"/>
              </a:ext>
            </a:extLst>
          </p:cNvPr>
          <p:cNvSpPr txBox="1"/>
          <p:nvPr/>
        </p:nvSpPr>
        <p:spPr>
          <a:xfrm>
            <a:off x="1224872" y="1523669"/>
            <a:ext cx="6928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Inspection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E4D49-AE50-E7EE-978A-CB73B379C380}"/>
              </a:ext>
            </a:extLst>
          </p:cNvPr>
          <p:cNvSpPr txBox="1"/>
          <p:nvPr/>
        </p:nvSpPr>
        <p:spPr>
          <a:xfrm>
            <a:off x="1083061" y="3456980"/>
            <a:ext cx="10270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Encoding</a:t>
            </a:r>
          </a:p>
          <a:p>
            <a:endParaRPr lang="en-US" sz="2400" b="1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24872" y="2129501"/>
            <a:ext cx="109378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Examined columns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duplicate records 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24872" y="3558609"/>
            <a:ext cx="83526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→ Binary Encoding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Ethnicity → One-Hot Encoding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 → One-Hot Encoding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Employment → One-Hot Encoding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Smoking Status → One-Hot Encoding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Income Level → Ordinal Mapping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5545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892E74BA-A752-3A6D-EA4D-2CCFAEF4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>
            <a:extLst>
              <a:ext uri="{FF2B5EF4-FFF2-40B4-BE49-F238E27FC236}">
                <a16:creationId xmlns:a16="http://schemas.microsoft.com/office/drawing/2014/main" id="{06B070FB-D45E-16CC-260B-646ACFF9B6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83061" y="1158544"/>
            <a:ext cx="33709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2800" b="1" u="sng" dirty="0"/>
              <a:t>Feature Removal</a:t>
            </a:r>
            <a:endParaRPr sz="2800" dirty="0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5C449D8F-EDB8-93A9-734D-974ED1D1880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163" name="Google Shape;163;p6">
            <a:extLst>
              <a:ext uri="{FF2B5EF4-FFF2-40B4-BE49-F238E27FC236}">
                <a16:creationId xmlns:a16="http://schemas.microsoft.com/office/drawing/2014/main" id="{D1109246-F54A-F801-F3CC-97E7FAAA23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>
            <a:extLst>
              <a:ext uri="{FF2B5EF4-FFF2-40B4-BE49-F238E27FC236}">
                <a16:creationId xmlns:a16="http://schemas.microsoft.com/office/drawing/2014/main" id="{E835E851-D3E6-62B7-5D29-ADE1DC8AF0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65" name="Google Shape;165;p6" title="download.png">
            <a:extLst>
              <a:ext uri="{FF2B5EF4-FFF2-40B4-BE49-F238E27FC236}">
                <a16:creationId xmlns:a16="http://schemas.microsoft.com/office/drawing/2014/main" id="{99219D42-00EE-37F6-30AE-BEA1A152065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7">
            <a:extLst>
              <a:ext uri="{FF2B5EF4-FFF2-40B4-BE49-F238E27FC236}">
                <a16:creationId xmlns:a16="http://schemas.microsoft.com/office/drawing/2014/main" id="{70C9645C-FB3F-AA21-CE42-B3F514D05C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22036" y="1754500"/>
            <a:ext cx="9747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/>
              <a:t>Removed</a:t>
            </a:r>
            <a:r>
              <a:rPr lang="en-US" sz="1800" b="1" dirty="0"/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99B9A56-D782-531A-62A6-CAC4C3C38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" y="3030788"/>
            <a:ext cx="1134003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 err="1"/>
              <a:t>patient_id</a:t>
            </a:r>
            <a:endParaRPr lang="en-US" sz="1800" dirty="0"/>
          </a:p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 err="1"/>
              <a:t>diabetes_risk_score</a:t>
            </a:r>
            <a:endParaRPr lang="en-US" sz="1800" dirty="0"/>
          </a:p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 err="1"/>
              <a:t>diabetes_stage</a:t>
            </a:r>
            <a:endParaRPr lang="en-US" sz="1800" dirty="0"/>
          </a:p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b="1" dirty="0"/>
              <a:t>Reason:</a:t>
            </a:r>
          </a:p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These variables either uniquely identify patients or could introduce data leakage into the model</a:t>
            </a:r>
            <a:r>
              <a:rPr lang="en-US" sz="1800" b="1" dirty="0"/>
              <a:t>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762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50D23C8A-0DC6-B39A-14E8-F10CC45B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>
            <a:extLst>
              <a:ext uri="{FF2B5EF4-FFF2-40B4-BE49-F238E27FC236}">
                <a16:creationId xmlns:a16="http://schemas.microsoft.com/office/drawing/2014/main" id="{1E62FFAA-5B91-EA55-1361-F7507F8947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83061" y="1158544"/>
            <a:ext cx="50775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2800" b="1" u="sng" dirty="0"/>
              <a:t>Feature Scaling &amp; Train/Test Split</a:t>
            </a:r>
            <a:endParaRPr sz="2800" dirty="0"/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D9E00776-84C9-3E30-C6F9-8C2BA26B31F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163" name="Google Shape;163;p6">
            <a:extLst>
              <a:ext uri="{FF2B5EF4-FFF2-40B4-BE49-F238E27FC236}">
                <a16:creationId xmlns:a16="http://schemas.microsoft.com/office/drawing/2014/main" id="{2E301192-0C04-C0C3-1367-88409691E2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>
            <a:extLst>
              <a:ext uri="{FF2B5EF4-FFF2-40B4-BE49-F238E27FC236}">
                <a16:creationId xmlns:a16="http://schemas.microsoft.com/office/drawing/2014/main" id="{55942027-AE86-1FB3-3A3E-19B5C0B1E7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65" name="Google Shape;165;p6" title="download.png">
            <a:extLst>
              <a:ext uri="{FF2B5EF4-FFF2-40B4-BE49-F238E27FC236}">
                <a16:creationId xmlns:a16="http://schemas.microsoft.com/office/drawing/2014/main" id="{FD8F0D0C-155F-FF18-106F-8E1B20B195E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7">
            <a:extLst>
              <a:ext uri="{FF2B5EF4-FFF2-40B4-BE49-F238E27FC236}">
                <a16:creationId xmlns:a16="http://schemas.microsoft.com/office/drawing/2014/main" id="{140587A7-04EC-23E5-2A3A-62D25B971C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7279" y="2479881"/>
            <a:ext cx="107117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/>
              <a:t>Why Scaling?</a:t>
            </a:r>
            <a:endParaRPr lang="ar-EG" sz="2000" b="1" dirty="0"/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Machine learning algorithms calculate distances between </a:t>
            </a:r>
            <a:r>
              <a:rPr lang="en-US" sz="1800" dirty="0" err="1"/>
              <a:t>observations.Large</a:t>
            </a:r>
            <a:r>
              <a:rPr lang="en-US" sz="1800" dirty="0"/>
              <a:t> numerical ranges may dominate smaller </a:t>
            </a:r>
            <a:r>
              <a:rPr lang="en-US" sz="1800" dirty="0" err="1"/>
              <a:t>ones.Therefore,RobustScaler</a:t>
            </a:r>
            <a:r>
              <a:rPr lang="en-US" sz="1800" dirty="0"/>
              <a:t> was used because it is resistant to outliers.</a:t>
            </a:r>
            <a:endParaRPr lang="ar-EG" sz="1800" dirty="0"/>
          </a:p>
        </p:txBody>
      </p:sp>
      <p:sp>
        <p:nvSpPr>
          <p:cNvPr id="2" name="Rectangle 1"/>
          <p:cNvSpPr/>
          <p:nvPr/>
        </p:nvSpPr>
        <p:spPr>
          <a:xfrm>
            <a:off x="427278" y="4269631"/>
            <a:ext cx="98805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b="1" dirty="0"/>
              <a:t>Train-Test Split</a:t>
            </a:r>
            <a:endParaRPr lang="ar-EG" sz="20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ar-EG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/>
              <a:t>80% Training20% </a:t>
            </a:r>
            <a:r>
              <a:rPr lang="en-US" dirty="0" err="1"/>
              <a:t>TestingUsingStratified</a:t>
            </a:r>
            <a:r>
              <a:rPr lang="en-US" dirty="0"/>
              <a:t> </a:t>
            </a:r>
            <a:r>
              <a:rPr lang="en-US" dirty="0" err="1"/>
              <a:t>Samplingto</a:t>
            </a:r>
            <a:r>
              <a:rPr lang="en-US" dirty="0"/>
              <a:t> preserve class distribution and Random State = 42 for reproducibility.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070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49000E4D-4FB9-2BE3-119B-E2B92ABA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DD322DCF-4CBA-9FB7-8B07-4F824F415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2050" y="1672224"/>
            <a:ext cx="3960713" cy="43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800" b="1" dirty="0">
                <a:latin typeface="+mn-lt"/>
              </a:rPr>
              <a:t>Flowchart</a:t>
            </a:r>
            <a:endParaRPr sz="1800" b="1" u="sng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0A26B2BE-1184-50BD-0128-7FC0C205DAA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96D313AC-390C-287C-2C9C-D0CDDCC813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69C7F14-ECB8-54D4-F766-B16A733492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  <p:pic>
        <p:nvPicPr>
          <p:cNvPr id="218" name="Google Shape;218;p11" title="download.png">
            <a:extLst>
              <a:ext uri="{FF2B5EF4-FFF2-40B4-BE49-F238E27FC236}">
                <a16:creationId xmlns:a16="http://schemas.microsoft.com/office/drawing/2014/main" id="{1577EAFB-49B1-3CFC-5A09-B971A96C1D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781811-6E1E-BD96-28C4-813AA241F997}"/>
              </a:ext>
            </a:extLst>
          </p:cNvPr>
          <p:cNvSpPr txBox="1"/>
          <p:nvPr/>
        </p:nvSpPr>
        <p:spPr>
          <a:xfrm>
            <a:off x="417323" y="1210559"/>
            <a:ext cx="4598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Machine Learning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199" y="2170589"/>
            <a:ext cx="889692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dataset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Encoding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Scaling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Train/Test Split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Prediction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Feature Importance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074873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51345"/>
            <a:ext cx="10515600" cy="794761"/>
          </a:xfrm>
        </p:spPr>
        <p:txBody>
          <a:bodyPr/>
          <a:lstStyle/>
          <a:p>
            <a:r>
              <a:rPr lang="en-US" dirty="0"/>
              <a:t>Models Evaluated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8472" y="951345"/>
            <a:ext cx="1634837" cy="50800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080781"/>
              </p:ext>
            </p:extLst>
          </p:nvPr>
        </p:nvGraphicFramePr>
        <p:xfrm>
          <a:off x="838200" y="2782094"/>
          <a:ext cx="10515600" cy="2438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414358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2917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217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155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735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639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120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29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285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08964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32813"/>
              </p:ext>
            </p:extLst>
          </p:nvPr>
        </p:nvGraphicFramePr>
        <p:xfrm>
          <a:off x="745836" y="1825626"/>
          <a:ext cx="10607964" cy="435133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35988">
                  <a:extLst>
                    <a:ext uri="{9D8B030D-6E8A-4147-A177-3AD203B41FA5}">
                      <a16:colId xmlns:a16="http://schemas.microsoft.com/office/drawing/2014/main" val="972801221"/>
                    </a:ext>
                  </a:extLst>
                </a:gridCol>
                <a:gridCol w="3535988">
                  <a:extLst>
                    <a:ext uri="{9D8B030D-6E8A-4147-A177-3AD203B41FA5}">
                      <a16:colId xmlns:a16="http://schemas.microsoft.com/office/drawing/2014/main" val="1715480138"/>
                    </a:ext>
                  </a:extLst>
                </a:gridCol>
                <a:gridCol w="3535988">
                  <a:extLst>
                    <a:ext uri="{9D8B030D-6E8A-4147-A177-3AD203B41FA5}">
                      <a16:colId xmlns:a16="http://schemas.microsoft.com/office/drawing/2014/main" val="3654656127"/>
                    </a:ext>
                  </a:extLst>
                </a:gridCol>
              </a:tblGrid>
              <a:tr h="54391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758400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Baseline linear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86%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76475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Distance-based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45043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Rule-based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8537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Ensemble of trees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90719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Maximum margin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41202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32514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/>
                        <a:t>CatBoost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 optimized for categorical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709769"/>
                  </a:ext>
                </a:extLst>
              </a:tr>
            </a:tbl>
          </a:graphicData>
        </a:graphic>
      </p:graphicFrame>
      <p:pic>
        <p:nvPicPr>
          <p:cNvPr id="7" name="Google Shape;218;p11" title="download.png">
            <a:extLst>
              <a:ext uri="{FF2B5EF4-FFF2-40B4-BE49-F238E27FC236}">
                <a16:creationId xmlns:a16="http://schemas.microsoft.com/office/drawing/2014/main" id="{1577EAFB-49B1-3CFC-5A09-B971A96C1D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838200" y="6385023"/>
            <a:ext cx="274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8/7/26</a:t>
            </a:r>
          </a:p>
        </p:txBody>
      </p:sp>
    </p:spTree>
    <p:extLst>
      <p:ext uri="{BB962C8B-B14F-4D97-AF65-F5344CB8AC3E}">
        <p14:creationId xmlns:p14="http://schemas.microsoft.com/office/powerpoint/2010/main" val="994700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091" y="983457"/>
            <a:ext cx="8896927" cy="531308"/>
          </a:xfrm>
        </p:spPr>
        <p:txBody>
          <a:bodyPr>
            <a:normAutofit fontScale="90000"/>
          </a:bodyPr>
          <a:lstStyle/>
          <a:p>
            <a:r>
              <a:rPr lang="en-US" dirty="0"/>
              <a:t>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91" y="1585480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US" sz="3800" dirty="0"/>
              <a:t>The final </a:t>
            </a:r>
            <a:r>
              <a:rPr lang="en-US" sz="3800" dirty="0" err="1"/>
              <a:t>CatBoost</a:t>
            </a:r>
            <a:r>
              <a:rPr lang="en-US" sz="3800" dirty="0"/>
              <a:t> model was deployed using </a:t>
            </a:r>
            <a:r>
              <a:rPr lang="en-US" sz="3800" dirty="0" err="1"/>
              <a:t>Streamlit</a:t>
            </a:r>
            <a:r>
              <a:rPr lang="en-US" sz="3800" dirty="0"/>
              <a:t>.</a:t>
            </a:r>
          </a:p>
          <a:p>
            <a:pPr marL="114300" indent="0">
              <a:buNone/>
            </a:pPr>
            <a:r>
              <a:rPr lang="en-US" sz="3200" b="1" dirty="0"/>
              <a:t>Workflow:</a:t>
            </a:r>
          </a:p>
          <a:p>
            <a:pPr marL="114300" indent="0">
              <a:buNone/>
            </a:pPr>
            <a:r>
              <a:rPr lang="en-US" dirty="0"/>
              <a:t>User Inputs</a:t>
            </a:r>
          </a:p>
          <a:p>
            <a:pPr marL="114300" indent="0">
              <a:buNone/>
            </a:pPr>
            <a:r>
              <a:rPr lang="en-US" dirty="0"/>
              <a:t>      ↓</a:t>
            </a:r>
          </a:p>
          <a:p>
            <a:pPr marL="114300" indent="0">
              <a:buNone/>
            </a:pPr>
            <a:r>
              <a:rPr lang="en-US" dirty="0"/>
              <a:t>Data Preprocessing</a:t>
            </a:r>
          </a:p>
          <a:p>
            <a:pPr marL="114300" indent="0">
              <a:buNone/>
            </a:pPr>
            <a:r>
              <a:rPr lang="en-US" dirty="0"/>
              <a:t>      ↓</a:t>
            </a:r>
          </a:p>
          <a:p>
            <a:pPr marL="114300" indent="0">
              <a:buNone/>
            </a:pPr>
            <a:r>
              <a:rPr lang="en-US" dirty="0" err="1"/>
              <a:t>CatBoost</a:t>
            </a:r>
            <a:r>
              <a:rPr lang="en-US" dirty="0"/>
              <a:t> Prediction</a:t>
            </a:r>
          </a:p>
          <a:p>
            <a:pPr marL="114300" indent="0">
              <a:buNone/>
            </a:pPr>
            <a:r>
              <a:rPr lang="en-US" dirty="0"/>
              <a:t>      ↓</a:t>
            </a:r>
          </a:p>
          <a:p>
            <a:pPr marL="114300" indent="0">
              <a:buNone/>
            </a:pPr>
            <a:r>
              <a:rPr lang="en-US" dirty="0"/>
              <a:t>Risk Classification</a:t>
            </a:r>
          </a:p>
          <a:p>
            <a:pPr marL="114300" indent="0">
              <a:buNone/>
            </a:pPr>
            <a:r>
              <a:rPr lang="en-US" dirty="0"/>
              <a:t>      ↓</a:t>
            </a:r>
          </a:p>
          <a:p>
            <a:pPr marL="114300" indent="0">
              <a:buNone/>
            </a:pPr>
            <a:r>
              <a:rPr lang="en-US" dirty="0"/>
              <a:t>Prediction Display</a:t>
            </a:r>
          </a:p>
          <a:p>
            <a:pPr marL="114300" indent="0">
              <a:buNone/>
            </a:pPr>
            <a:r>
              <a:rPr lang="en-US" sz="3200" b="1" dirty="0"/>
              <a:t>Benefits:</a:t>
            </a:r>
          </a:p>
          <a:p>
            <a:r>
              <a:rPr lang="en-US" dirty="0"/>
              <a:t>Easy to use </a:t>
            </a:r>
          </a:p>
          <a:p>
            <a:r>
              <a:rPr lang="en-US" dirty="0"/>
              <a:t>Real-time prediction </a:t>
            </a:r>
          </a:p>
          <a:p>
            <a:r>
              <a:rPr lang="en-US" dirty="0"/>
              <a:t>Accessible through a web browser 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5" name="Google Shape;218;p11" title="download.png">
            <a:extLst>
              <a:ext uri="{FF2B5EF4-FFF2-40B4-BE49-F238E27FC236}">
                <a16:creationId xmlns:a16="http://schemas.microsoft.com/office/drawing/2014/main" id="{1577EAFB-49B1-3CFC-5A09-B971A96C1D0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838200" y="6385023"/>
            <a:ext cx="274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8/7/26</a:t>
            </a:r>
          </a:p>
        </p:txBody>
      </p:sp>
    </p:spTree>
    <p:extLst>
      <p:ext uri="{BB962C8B-B14F-4D97-AF65-F5344CB8AC3E}">
        <p14:creationId xmlns:p14="http://schemas.microsoft.com/office/powerpoint/2010/main" val="233954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491" y="1080654"/>
            <a:ext cx="8878454" cy="74497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782" y="1836517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Key Takeaways</a:t>
            </a:r>
          </a:p>
          <a:p>
            <a:pPr marL="114300" indent="0">
              <a:buNone/>
            </a:pPr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66618" y="2078472"/>
            <a:ext cx="95958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 diabetes prediction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seven classification algorithms.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highest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importance analysis revealed the dominance of HbA1c and glucose measurements.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second experiment demonstrated the impact of removing HbA1c to create a more behavior-focused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was successfully deployed as an interactive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application.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1934" y="4012186"/>
            <a:ext cx="118400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Closing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should not replace medical professionals, but it can serve as a powerful decision-support tool that enables earlier screening, more efficient resource allocation, and improved preventive healthcare.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6385023"/>
            <a:ext cx="274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8/7/26</a:t>
            </a:r>
          </a:p>
        </p:txBody>
      </p:sp>
    </p:spTree>
    <p:extLst>
      <p:ext uri="{BB962C8B-B14F-4D97-AF65-F5344CB8AC3E}">
        <p14:creationId xmlns:p14="http://schemas.microsoft.com/office/powerpoint/2010/main" val="4240944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49000E4D-4FB9-2BE3-119B-E2B92ABA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>
            <a:extLst>
              <a:ext uri="{FF2B5EF4-FFF2-40B4-BE49-F238E27FC236}">
                <a16:creationId xmlns:a16="http://schemas.microsoft.com/office/drawing/2014/main" id="{DD322DCF-4CBA-9FB7-8B07-4F824F415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761533"/>
            <a:ext cx="10515600" cy="130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6600" b="1" u="sng" dirty="0"/>
              <a:t>Thank you</a:t>
            </a:r>
            <a:endParaRPr sz="6600" b="1" u="sng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0A26B2BE-1184-50BD-0128-7FC0C205DAA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8/7/26</a:t>
            </a:r>
            <a:endParaRPr dirty="0"/>
          </a:p>
        </p:txBody>
      </p:sp>
      <p:sp>
        <p:nvSpPr>
          <p:cNvPr id="216" name="Google Shape;216;p11">
            <a:extLst>
              <a:ext uri="{FF2B5EF4-FFF2-40B4-BE49-F238E27FC236}">
                <a16:creationId xmlns:a16="http://schemas.microsoft.com/office/drawing/2014/main" id="{96D313AC-390C-287C-2C9C-D0CDDCC813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69C7F14-ECB8-54D4-F766-B16A733492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18" name="Google Shape;218;p11" title="download.png">
            <a:extLst>
              <a:ext uri="{FF2B5EF4-FFF2-40B4-BE49-F238E27FC236}">
                <a16:creationId xmlns:a16="http://schemas.microsoft.com/office/drawing/2014/main" id="{1577EAFB-49B1-3CFC-5A09-B971A96C1D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547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1021</Words>
  <Application>Microsoft Office PowerPoint</Application>
  <PresentationFormat>Widescreen</PresentationFormat>
  <Paragraphs>304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Diabetes Prediction Using Machine Learning</vt:lpstr>
      <vt:lpstr>What is Diabetes?</vt:lpstr>
      <vt:lpstr>Problem Statement</vt:lpstr>
      <vt:lpstr>PowerPoint Presentation</vt:lpstr>
      <vt:lpstr>PowerPoint Presentation</vt:lpstr>
      <vt:lpstr>PowerPoint Presentation</vt:lpstr>
      <vt:lpstr>PowerPoint Presentation</vt:lpstr>
      <vt:lpstr>Exploratory Data Analysis (EDA)</vt:lpstr>
      <vt:lpstr>Target Distribution</vt:lpstr>
      <vt:lpstr>Age Distribution</vt:lpstr>
      <vt:lpstr>BMI Distribution</vt:lpstr>
      <vt:lpstr>Fasting Glucose Distribution</vt:lpstr>
      <vt:lpstr>HbA1c Distribution</vt:lpstr>
      <vt:lpstr>Outlier Detection</vt:lpstr>
      <vt:lpstr>PowerPoint Presentation</vt:lpstr>
      <vt:lpstr>PowerPoint Presentation</vt:lpstr>
      <vt:lpstr>Data Preprocessing</vt:lpstr>
      <vt:lpstr>Feature Removal</vt:lpstr>
      <vt:lpstr>Feature Scaling &amp; Train/Test Split</vt:lpstr>
      <vt:lpstr>PowerPoint Presentation</vt:lpstr>
      <vt:lpstr>Models Evaluated</vt:lpstr>
      <vt:lpstr>Deployment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 sales analysis overview</dc:title>
  <dc:creator>SAMA</dc:creator>
  <cp:lastModifiedBy>Mohamed Hamed</cp:lastModifiedBy>
  <cp:revision>21</cp:revision>
  <dcterms:created xsi:type="dcterms:W3CDTF">2024-03-14T10:03:54Z</dcterms:created>
  <dcterms:modified xsi:type="dcterms:W3CDTF">2026-07-09T20:16:03Z</dcterms:modified>
</cp:coreProperties>
</file>